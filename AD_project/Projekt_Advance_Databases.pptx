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y Grotesk V3 Key Semi-Bold" charset="1" panose="000007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 Medium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404" t="-79025" r="-2048" b="-382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01904" y="8602416"/>
            <a:ext cx="286216" cy="286216"/>
          </a:xfrm>
          <a:custGeom>
            <a:avLst/>
            <a:gdLst/>
            <a:ahLst/>
            <a:cxnLst/>
            <a:rect r="r" b="b" t="t" l="l"/>
            <a:pathLst>
              <a:path h="286216" w="286216">
                <a:moveTo>
                  <a:pt x="0" y="0"/>
                </a:moveTo>
                <a:lnTo>
                  <a:pt x="286216" y="0"/>
                </a:lnTo>
                <a:lnTo>
                  <a:pt x="286216" y="286216"/>
                </a:lnTo>
                <a:lnTo>
                  <a:pt x="0" y="286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50828" y="8627837"/>
            <a:ext cx="365692" cy="235373"/>
          </a:xfrm>
          <a:custGeom>
            <a:avLst/>
            <a:gdLst/>
            <a:ahLst/>
            <a:cxnLst/>
            <a:rect r="r" b="b" t="t" l="l"/>
            <a:pathLst>
              <a:path h="235373" w="365692">
                <a:moveTo>
                  <a:pt x="0" y="0"/>
                </a:moveTo>
                <a:lnTo>
                  <a:pt x="365692" y="0"/>
                </a:lnTo>
                <a:lnTo>
                  <a:pt x="365692" y="235373"/>
                </a:lnTo>
                <a:lnTo>
                  <a:pt x="0" y="235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313" r="0" b="-931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962355"/>
            <a:ext cx="8573196" cy="412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45"/>
              </a:lnSpc>
            </a:pPr>
            <a:r>
              <a:rPr lang="en-US" sz="11324" spc="-452" b="true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Uber trip analysis in the USA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34635"/>
            <a:ext cx="3029205" cy="113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9"/>
              </a:lnSpc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made by:</a:t>
            </a:r>
          </a:p>
          <a:p>
            <a:pPr algn="l" marL="348495" indent="-174247" lvl="1">
              <a:lnSpc>
                <a:spcPts val="2259"/>
              </a:lnSpc>
              <a:buFont typeface="Arial"/>
              <a:buChar char="•"/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Paweł Jerzyna</a:t>
            </a:r>
          </a:p>
          <a:p>
            <a:pPr algn="l" marL="348495" indent="-174247" lvl="1">
              <a:lnSpc>
                <a:spcPts val="2259"/>
              </a:lnSpc>
              <a:buFont typeface="Arial"/>
              <a:buChar char="•"/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Piotr Grzyb</a:t>
            </a:r>
          </a:p>
          <a:p>
            <a:pPr algn="l" marL="348495" indent="-174247" lvl="1">
              <a:lnSpc>
                <a:spcPts val="2259"/>
              </a:lnSpc>
              <a:buFont typeface="Arial"/>
              <a:buChar char="•"/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Szymon Lipkowski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81160"/>
            <a:ext cx="18288000" cy="7105451"/>
            <a:chOff x="0" y="0"/>
            <a:chExt cx="4816593" cy="1871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871394"/>
            </a:xfrm>
            <a:custGeom>
              <a:avLst/>
              <a:gdLst/>
              <a:ahLst/>
              <a:cxnLst/>
              <a:rect r="r" b="b" t="t" l="l"/>
              <a:pathLst>
                <a:path h="18713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871394"/>
                  </a:lnTo>
                  <a:lnTo>
                    <a:pt x="0" y="1871394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899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6793" y="2477131"/>
            <a:ext cx="5057113" cy="6465094"/>
            <a:chOff x="0" y="0"/>
            <a:chExt cx="6742817" cy="862012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742817" cy="674281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39222" y="0"/>
                    </a:moveTo>
                    <a:lnTo>
                      <a:pt x="773578" y="0"/>
                    </a:lnTo>
                    <a:cubicBezTo>
                      <a:pt x="783980" y="0"/>
                      <a:pt x="793957" y="4132"/>
                      <a:pt x="801312" y="11488"/>
                    </a:cubicBezTo>
                    <a:cubicBezTo>
                      <a:pt x="808668" y="18843"/>
                      <a:pt x="812800" y="28820"/>
                      <a:pt x="812800" y="39222"/>
                    </a:cubicBezTo>
                    <a:lnTo>
                      <a:pt x="812800" y="773578"/>
                    </a:lnTo>
                    <a:cubicBezTo>
                      <a:pt x="812800" y="783980"/>
                      <a:pt x="808668" y="793957"/>
                      <a:pt x="801312" y="801312"/>
                    </a:cubicBezTo>
                    <a:cubicBezTo>
                      <a:pt x="793957" y="808668"/>
                      <a:pt x="783980" y="812800"/>
                      <a:pt x="773578" y="812800"/>
                    </a:cubicBezTo>
                    <a:lnTo>
                      <a:pt x="39222" y="812800"/>
                    </a:lnTo>
                    <a:cubicBezTo>
                      <a:pt x="28820" y="812800"/>
                      <a:pt x="18843" y="808668"/>
                      <a:pt x="11488" y="801312"/>
                    </a:cubicBezTo>
                    <a:cubicBezTo>
                      <a:pt x="4132" y="793957"/>
                      <a:pt x="0" y="783980"/>
                      <a:pt x="0" y="773578"/>
                    </a:cubicBezTo>
                    <a:lnTo>
                      <a:pt x="0" y="39222"/>
                    </a:lnTo>
                    <a:cubicBezTo>
                      <a:pt x="0" y="28820"/>
                      <a:pt x="4132" y="18843"/>
                      <a:pt x="11488" y="11488"/>
                    </a:cubicBezTo>
                    <a:cubicBezTo>
                      <a:pt x="18843" y="4132"/>
                      <a:pt x="28820" y="0"/>
                      <a:pt x="39222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2355" r="0" b="-37244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6742817"/>
              <a:ext cx="6742817" cy="1877309"/>
              <a:chOff x="0" y="0"/>
              <a:chExt cx="751569" cy="20924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1569" cy="209249"/>
              </a:xfrm>
              <a:custGeom>
                <a:avLst/>
                <a:gdLst/>
                <a:ahLst/>
                <a:cxnLst/>
                <a:rect r="r" b="b" t="t" l="l"/>
                <a:pathLst>
                  <a:path h="209249" w="751569">
                    <a:moveTo>
                      <a:pt x="23874" y="0"/>
                    </a:moveTo>
                    <a:lnTo>
                      <a:pt x="727695" y="0"/>
                    </a:lnTo>
                    <a:cubicBezTo>
                      <a:pt x="734027" y="0"/>
                      <a:pt x="740099" y="2515"/>
                      <a:pt x="744576" y="6993"/>
                    </a:cubicBezTo>
                    <a:cubicBezTo>
                      <a:pt x="749054" y="11470"/>
                      <a:pt x="751569" y="17542"/>
                      <a:pt x="751569" y="23874"/>
                    </a:cubicBezTo>
                    <a:lnTo>
                      <a:pt x="751569" y="185375"/>
                    </a:lnTo>
                    <a:cubicBezTo>
                      <a:pt x="751569" y="198560"/>
                      <a:pt x="740880" y="209249"/>
                      <a:pt x="727695" y="209249"/>
                    </a:cubicBezTo>
                    <a:lnTo>
                      <a:pt x="23874" y="209249"/>
                    </a:lnTo>
                    <a:cubicBezTo>
                      <a:pt x="10689" y="209249"/>
                      <a:pt x="0" y="198560"/>
                      <a:pt x="0" y="185375"/>
                    </a:cubicBezTo>
                    <a:lnTo>
                      <a:pt x="0" y="23874"/>
                    </a:lnTo>
                    <a:cubicBezTo>
                      <a:pt x="0" y="10689"/>
                      <a:pt x="10689" y="0"/>
                      <a:pt x="2387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751569" cy="237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019687" y="7130756"/>
              <a:ext cx="4703443" cy="1299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6"/>
                </a:lnSpc>
              </a:pPr>
              <a:r>
                <a:rPr lang="en-US" b="true" sz="3932" spc="-157">
                  <a:solidFill>
                    <a:srgbClr val="FFFFFF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Szymon Lipkowski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15444" y="2477131"/>
            <a:ext cx="5057113" cy="505711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5211" y="0"/>
                  </a:moveTo>
                  <a:lnTo>
                    <a:pt x="777589" y="0"/>
                  </a:lnTo>
                  <a:cubicBezTo>
                    <a:pt x="797036" y="0"/>
                    <a:pt x="812800" y="15764"/>
                    <a:pt x="812800" y="35211"/>
                  </a:cubicBezTo>
                  <a:lnTo>
                    <a:pt x="812800" y="777589"/>
                  </a:lnTo>
                  <a:cubicBezTo>
                    <a:pt x="812800" y="797036"/>
                    <a:pt x="797036" y="812800"/>
                    <a:pt x="777589" y="812800"/>
                  </a:cubicBezTo>
                  <a:lnTo>
                    <a:pt x="35211" y="812800"/>
                  </a:lnTo>
                  <a:cubicBezTo>
                    <a:pt x="15764" y="812800"/>
                    <a:pt x="0" y="797036"/>
                    <a:pt x="0" y="777589"/>
                  </a:cubicBezTo>
                  <a:lnTo>
                    <a:pt x="0" y="35211"/>
                  </a:lnTo>
                  <a:cubicBezTo>
                    <a:pt x="0" y="15764"/>
                    <a:pt x="15764" y="0"/>
                    <a:pt x="3521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105" r="0" b="-302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15444" y="7534244"/>
            <a:ext cx="5057113" cy="1407981"/>
            <a:chOff x="0" y="0"/>
            <a:chExt cx="751569" cy="209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569" cy="209249"/>
            </a:xfrm>
            <a:custGeom>
              <a:avLst/>
              <a:gdLst/>
              <a:ahLst/>
              <a:cxnLst/>
              <a:rect r="r" b="b" t="t" l="l"/>
              <a:pathLst>
                <a:path h="209249" w="751569">
                  <a:moveTo>
                    <a:pt x="21433" y="0"/>
                  </a:moveTo>
                  <a:lnTo>
                    <a:pt x="730136" y="0"/>
                  </a:lnTo>
                  <a:cubicBezTo>
                    <a:pt x="735821" y="0"/>
                    <a:pt x="741272" y="2258"/>
                    <a:pt x="745292" y="6277"/>
                  </a:cubicBezTo>
                  <a:cubicBezTo>
                    <a:pt x="749311" y="10297"/>
                    <a:pt x="751569" y="15748"/>
                    <a:pt x="751569" y="21433"/>
                  </a:cubicBezTo>
                  <a:lnTo>
                    <a:pt x="751569" y="187816"/>
                  </a:lnTo>
                  <a:cubicBezTo>
                    <a:pt x="751569" y="193501"/>
                    <a:pt x="749311" y="198952"/>
                    <a:pt x="745292" y="202971"/>
                  </a:cubicBezTo>
                  <a:cubicBezTo>
                    <a:pt x="741272" y="206991"/>
                    <a:pt x="735821" y="209249"/>
                    <a:pt x="730136" y="209249"/>
                  </a:cubicBezTo>
                  <a:lnTo>
                    <a:pt x="21433" y="209249"/>
                  </a:lnTo>
                  <a:cubicBezTo>
                    <a:pt x="15748" y="209249"/>
                    <a:pt x="10297" y="206991"/>
                    <a:pt x="6277" y="202971"/>
                  </a:cubicBezTo>
                  <a:cubicBezTo>
                    <a:pt x="2258" y="198952"/>
                    <a:pt x="0" y="193501"/>
                    <a:pt x="0" y="187816"/>
                  </a:cubicBezTo>
                  <a:lnTo>
                    <a:pt x="0" y="21433"/>
                  </a:lnTo>
                  <a:cubicBezTo>
                    <a:pt x="0" y="15748"/>
                    <a:pt x="2258" y="10297"/>
                    <a:pt x="6277" y="6277"/>
                  </a:cubicBezTo>
                  <a:cubicBezTo>
                    <a:pt x="10297" y="2258"/>
                    <a:pt x="15748" y="0"/>
                    <a:pt x="2143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51569" cy="237824"/>
            </a:xfrm>
            <a:prstGeom prst="rect">
              <a:avLst/>
            </a:prstGeom>
          </p:spPr>
          <p:txBody>
            <a:bodyPr anchor="ctr" rtlCol="false" tIns="59890" lIns="59890" bIns="59890" rIns="5989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25081" y="2477131"/>
            <a:ext cx="5057113" cy="505711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5211" y="0"/>
                  </a:moveTo>
                  <a:lnTo>
                    <a:pt x="777589" y="0"/>
                  </a:lnTo>
                  <a:cubicBezTo>
                    <a:pt x="797036" y="0"/>
                    <a:pt x="812800" y="15764"/>
                    <a:pt x="812800" y="35211"/>
                  </a:cubicBezTo>
                  <a:lnTo>
                    <a:pt x="812800" y="777589"/>
                  </a:lnTo>
                  <a:cubicBezTo>
                    <a:pt x="812800" y="797036"/>
                    <a:pt x="797036" y="812800"/>
                    <a:pt x="777589" y="812800"/>
                  </a:cubicBezTo>
                  <a:lnTo>
                    <a:pt x="35211" y="812800"/>
                  </a:lnTo>
                  <a:cubicBezTo>
                    <a:pt x="15764" y="812800"/>
                    <a:pt x="0" y="797036"/>
                    <a:pt x="0" y="777589"/>
                  </a:cubicBezTo>
                  <a:lnTo>
                    <a:pt x="0" y="35211"/>
                  </a:lnTo>
                  <a:cubicBezTo>
                    <a:pt x="0" y="15764"/>
                    <a:pt x="15764" y="0"/>
                    <a:pt x="35211" y="0"/>
                  </a:cubicBezTo>
                  <a:close/>
                </a:path>
              </a:pathLst>
            </a:custGeom>
            <a:blipFill>
              <a:blip r:embed="rId4"/>
              <a:stretch>
                <a:fillRect l="-10134" t="-49882" r="-13537" b="-1501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825081" y="7534244"/>
            <a:ext cx="5057113" cy="1407981"/>
            <a:chOff x="0" y="0"/>
            <a:chExt cx="751569" cy="2092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1569" cy="209249"/>
            </a:xfrm>
            <a:custGeom>
              <a:avLst/>
              <a:gdLst/>
              <a:ahLst/>
              <a:cxnLst/>
              <a:rect r="r" b="b" t="t" l="l"/>
              <a:pathLst>
                <a:path h="209249" w="751569">
                  <a:moveTo>
                    <a:pt x="21433" y="0"/>
                  </a:moveTo>
                  <a:lnTo>
                    <a:pt x="730136" y="0"/>
                  </a:lnTo>
                  <a:cubicBezTo>
                    <a:pt x="735821" y="0"/>
                    <a:pt x="741272" y="2258"/>
                    <a:pt x="745292" y="6277"/>
                  </a:cubicBezTo>
                  <a:cubicBezTo>
                    <a:pt x="749311" y="10297"/>
                    <a:pt x="751569" y="15748"/>
                    <a:pt x="751569" y="21433"/>
                  </a:cubicBezTo>
                  <a:lnTo>
                    <a:pt x="751569" y="187816"/>
                  </a:lnTo>
                  <a:cubicBezTo>
                    <a:pt x="751569" y="193501"/>
                    <a:pt x="749311" y="198952"/>
                    <a:pt x="745292" y="202971"/>
                  </a:cubicBezTo>
                  <a:cubicBezTo>
                    <a:pt x="741272" y="206991"/>
                    <a:pt x="735821" y="209249"/>
                    <a:pt x="730136" y="209249"/>
                  </a:cubicBezTo>
                  <a:lnTo>
                    <a:pt x="21433" y="209249"/>
                  </a:lnTo>
                  <a:cubicBezTo>
                    <a:pt x="15748" y="209249"/>
                    <a:pt x="10297" y="206991"/>
                    <a:pt x="6277" y="202971"/>
                  </a:cubicBezTo>
                  <a:cubicBezTo>
                    <a:pt x="2258" y="198952"/>
                    <a:pt x="0" y="193501"/>
                    <a:pt x="0" y="187816"/>
                  </a:cubicBezTo>
                  <a:lnTo>
                    <a:pt x="0" y="21433"/>
                  </a:lnTo>
                  <a:cubicBezTo>
                    <a:pt x="0" y="15748"/>
                    <a:pt x="2258" y="10297"/>
                    <a:pt x="6277" y="6277"/>
                  </a:cubicBezTo>
                  <a:cubicBezTo>
                    <a:pt x="10297" y="2258"/>
                    <a:pt x="15748" y="0"/>
                    <a:pt x="2143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51569" cy="237824"/>
            </a:xfrm>
            <a:prstGeom prst="rect">
              <a:avLst/>
            </a:prstGeom>
          </p:spPr>
          <p:txBody>
            <a:bodyPr anchor="ctr" rtlCol="false" tIns="59890" lIns="59890" bIns="59890" rIns="5989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879579" y="510378"/>
            <a:ext cx="8528843" cy="89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b="true" sz="6999" spc="-279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Meet Our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80209" y="7852719"/>
            <a:ext cx="3527582" cy="95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932" spc="-157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Piotr </a:t>
            </a:r>
          </a:p>
          <a:p>
            <a:pPr algn="ctr">
              <a:lnSpc>
                <a:spcPts val="3696"/>
              </a:lnSpc>
            </a:pPr>
            <a:r>
              <a:rPr lang="en-US" b="true" sz="3932" spc="-157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Grzyb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89847" y="7852719"/>
            <a:ext cx="3527582" cy="95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932" spc="-157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Paweł</a:t>
            </a:r>
          </a:p>
          <a:p>
            <a:pPr algn="ctr">
              <a:lnSpc>
                <a:spcPts val="3696"/>
              </a:lnSpc>
            </a:pPr>
            <a:r>
              <a:rPr lang="en-US" b="true" sz="3932" spc="-157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Jerzyna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18227"/>
            <a:ext cx="18288000" cy="4168773"/>
            <a:chOff x="0" y="0"/>
            <a:chExt cx="4816593" cy="1097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97948"/>
            </a:xfrm>
            <a:custGeom>
              <a:avLst/>
              <a:gdLst/>
              <a:ahLst/>
              <a:cxnLst/>
              <a:rect r="r" b="b" t="t" l="l"/>
              <a:pathLst>
                <a:path h="10979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97948"/>
                  </a:lnTo>
                  <a:lnTo>
                    <a:pt x="0" y="10979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16593" cy="1126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63516" y="6118227"/>
            <a:ext cx="10683404" cy="4168773"/>
            <a:chOff x="0" y="0"/>
            <a:chExt cx="1292853" cy="504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2853" cy="504484"/>
            </a:xfrm>
            <a:custGeom>
              <a:avLst/>
              <a:gdLst/>
              <a:ahLst/>
              <a:cxnLst/>
              <a:rect r="r" b="b" t="t" l="l"/>
              <a:pathLst>
                <a:path h="504484" w="1292853">
                  <a:moveTo>
                    <a:pt x="0" y="0"/>
                  </a:moveTo>
                  <a:lnTo>
                    <a:pt x="1292853" y="0"/>
                  </a:lnTo>
                  <a:lnTo>
                    <a:pt x="1292853" y="504484"/>
                  </a:lnTo>
                  <a:lnTo>
                    <a:pt x="0" y="504484"/>
                  </a:lnTo>
                  <a:close/>
                </a:path>
              </a:pathLst>
            </a:custGeom>
            <a:blipFill>
              <a:blip r:embed="rId2"/>
              <a:stretch>
                <a:fillRect l="-3822" t="0" r="-382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736218" y="498027"/>
            <a:ext cx="7551782" cy="5143500"/>
          </a:xfrm>
          <a:custGeom>
            <a:avLst/>
            <a:gdLst/>
            <a:ahLst/>
            <a:cxnLst/>
            <a:rect r="r" b="b" t="t" l="l"/>
            <a:pathLst>
              <a:path h="5143500" w="7551782">
                <a:moveTo>
                  <a:pt x="0" y="0"/>
                </a:moveTo>
                <a:lnTo>
                  <a:pt x="7551782" y="0"/>
                </a:lnTo>
                <a:lnTo>
                  <a:pt x="75517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96" t="0" r="0" b="-1324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7485" y="659952"/>
            <a:ext cx="7595107" cy="89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Project concept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793" y="1967218"/>
            <a:ext cx="9092425" cy="396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94"/>
              </a:lnSpc>
            </a:pPr>
            <a:r>
              <a:rPr lang="en-US" sz="20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project was based o</a:t>
            </a:r>
            <a:r>
              <a:rPr lang="en-US" sz="20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the analysis of Uber trip data across the United States. </a:t>
            </a:r>
          </a:p>
          <a:p>
            <a:pPr algn="just">
              <a:lnSpc>
                <a:spcPts val="2894"/>
              </a:lnSpc>
            </a:pPr>
          </a:p>
          <a:p>
            <a:pPr algn="just">
              <a:lnSpc>
                <a:spcPts val="2894"/>
              </a:lnSpc>
            </a:pPr>
            <a:r>
              <a:rPr lang="en-US" sz="20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part of the project, a series of visualizations were developed to illustrate relationships between selected variables and highlight key trends within the dataset. </a:t>
            </a:r>
          </a:p>
          <a:p>
            <a:pPr algn="just">
              <a:lnSpc>
                <a:spcPts val="2894"/>
              </a:lnSpc>
            </a:pPr>
          </a:p>
          <a:p>
            <a:pPr algn="just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Additionally, interactive filters were implemented to enable dynamic data exploration and allow users to refine the displayed information according to their specific analytical needs, providing deeper insights into the analyzed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6173"/>
            <a:ext cx="8717813" cy="10444009"/>
            <a:chOff x="0" y="0"/>
            <a:chExt cx="2296049" cy="2750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049" cy="2750685"/>
            </a:xfrm>
            <a:custGeom>
              <a:avLst/>
              <a:gdLst/>
              <a:ahLst/>
              <a:cxnLst/>
              <a:rect r="r" b="b" t="t" l="l"/>
              <a:pathLst>
                <a:path h="2750685" w="2296049">
                  <a:moveTo>
                    <a:pt x="0" y="0"/>
                  </a:moveTo>
                  <a:lnTo>
                    <a:pt x="2296049" y="0"/>
                  </a:lnTo>
                  <a:lnTo>
                    <a:pt x="2296049" y="2750685"/>
                  </a:lnTo>
                  <a:lnTo>
                    <a:pt x="0" y="2750685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96049" cy="2779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17813" y="-16173"/>
            <a:ext cx="9570187" cy="6039974"/>
          </a:xfrm>
          <a:custGeom>
            <a:avLst/>
            <a:gdLst/>
            <a:ahLst/>
            <a:cxnLst/>
            <a:rect r="r" b="b" t="t" l="l"/>
            <a:pathLst>
              <a:path h="6039974" w="9570187">
                <a:moveTo>
                  <a:pt x="0" y="0"/>
                </a:moveTo>
                <a:lnTo>
                  <a:pt x="9570187" y="0"/>
                </a:lnTo>
                <a:lnTo>
                  <a:pt x="9570187" y="6039975"/>
                </a:lnTo>
                <a:lnTo>
                  <a:pt x="0" y="6039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2793" y="302761"/>
            <a:ext cx="7595107" cy="89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Dataset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64657" y="4246209"/>
            <a:ext cx="7579399" cy="4966787"/>
            <a:chOff x="0" y="0"/>
            <a:chExt cx="10105865" cy="662238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25629"/>
              <a:ext cx="10105865" cy="6196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trip_id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the id of the trip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driver_id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- the id of the Uber driver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driver_name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Name and Surname of the Uber driver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rider_id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- the id of the passager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rider_name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Name and Surname of the passager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city_id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- the id of the city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city_name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name of the City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payment_method_id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- the id of the payment method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method_name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name of the payment method (Card/Wallet/UPI/Cash)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status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- status of the ride (Cancelled/Completed/No-show)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distance_km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- distance of the ride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fare_amount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– the amount of the fare (the price paid for a trip or ride)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625"/>
              <a:ext cx="4463668" cy="416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Explenation of data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6362" y="6023802"/>
            <a:ext cx="9741638" cy="4271584"/>
            <a:chOff x="0" y="0"/>
            <a:chExt cx="2565699" cy="11250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699" cy="1125026"/>
            </a:xfrm>
            <a:custGeom>
              <a:avLst/>
              <a:gdLst/>
              <a:ahLst/>
              <a:cxnLst/>
              <a:rect r="r" b="b" t="t" l="l"/>
              <a:pathLst>
                <a:path h="1125026" w="2565699">
                  <a:moveTo>
                    <a:pt x="0" y="0"/>
                  </a:moveTo>
                  <a:lnTo>
                    <a:pt x="2565699" y="0"/>
                  </a:lnTo>
                  <a:lnTo>
                    <a:pt x="2565699" y="1125026"/>
                  </a:lnTo>
                  <a:lnTo>
                    <a:pt x="0" y="1125026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565699" cy="1153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2793" y="1152994"/>
            <a:ext cx="8083127" cy="266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  <a:spcBef>
                <a:spcPct val="0"/>
              </a:spcBef>
            </a:pPr>
            <a:r>
              <a:rPr lang="en-US" b="true" sz="2558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dataset comprised around 50,000 records of Uber t</a:t>
            </a:r>
            <a:r>
              <a:rPr lang="en-US" b="true" sz="2558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rips conducted across the United States from 1st January till 2nd February 2023. The data were collected from ten major cities: Chicago, Dallas, Houston, Los Angeles, New York, Philadelphia, Phoenix, San Antonio, San Diego, and San Francisco.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17813" y="6556156"/>
            <a:ext cx="7052667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pickup_date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the date when the passenger was picked up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pickup_time 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the time when the passenger was picked up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pickup_lat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the latitude of the pickup location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pickup_lng 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the longitude of the pickup location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drop_date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the date when the passenger was dropped off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drop_time 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the time when the passenger was dropped off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drop_lat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the latitude of the drop-off location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drop_lng </a:t>
            </a: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the longitude of the drop-off location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290" y="0"/>
            <a:ext cx="18838580" cy="1792565"/>
            <a:chOff x="0" y="0"/>
            <a:chExt cx="4961601" cy="472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1601" cy="472116"/>
            </a:xfrm>
            <a:custGeom>
              <a:avLst/>
              <a:gdLst/>
              <a:ahLst/>
              <a:cxnLst/>
              <a:rect r="r" b="b" t="t" l="l"/>
              <a:pathLst>
                <a:path h="472116" w="4961601">
                  <a:moveTo>
                    <a:pt x="0" y="0"/>
                  </a:moveTo>
                  <a:lnTo>
                    <a:pt x="4961601" y="0"/>
                  </a:lnTo>
                  <a:lnTo>
                    <a:pt x="4961601" y="472116"/>
                  </a:lnTo>
                  <a:lnTo>
                    <a:pt x="0" y="472116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961601" cy="500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601478"/>
            <a:ext cx="12974727" cy="7263252"/>
          </a:xfrm>
          <a:custGeom>
            <a:avLst/>
            <a:gdLst/>
            <a:ahLst/>
            <a:cxnLst/>
            <a:rect r="r" b="b" t="t" l="l"/>
            <a:pathLst>
              <a:path h="7263252" w="12974727">
                <a:moveTo>
                  <a:pt x="0" y="0"/>
                </a:moveTo>
                <a:lnTo>
                  <a:pt x="12974727" y="0"/>
                </a:lnTo>
                <a:lnTo>
                  <a:pt x="12974727" y="7263252"/>
                </a:lnTo>
                <a:lnTo>
                  <a:pt x="0" y="7263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2077" y="2401166"/>
            <a:ext cx="7622893" cy="400624"/>
          </a:xfrm>
          <a:custGeom>
            <a:avLst/>
            <a:gdLst/>
            <a:ahLst/>
            <a:cxnLst/>
            <a:rect r="r" b="b" t="t" l="l"/>
            <a:pathLst>
              <a:path h="400624" w="7622893">
                <a:moveTo>
                  <a:pt x="0" y="0"/>
                </a:moveTo>
                <a:lnTo>
                  <a:pt x="7622893" y="0"/>
                </a:lnTo>
                <a:lnTo>
                  <a:pt x="7622893" y="400624"/>
                </a:lnTo>
                <a:lnTo>
                  <a:pt x="0" y="400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118" r="0" b="-5911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2077" y="451499"/>
            <a:ext cx="17943576" cy="101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1"/>
              </a:lnSpc>
            </a:pPr>
            <a:r>
              <a:rPr lang="en-US" b="true" sz="8055" spc="-322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Visualisation, by the localization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9886" y="2363066"/>
            <a:ext cx="4465227" cy="417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167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database allowed us to analyse Uber journeys in the biggest US cities, taking into consideration the characteristics of said transfers such as: </a:t>
            </a:r>
          </a:p>
          <a:p>
            <a:pPr algn="l">
              <a:lnSpc>
                <a:spcPts val="3034"/>
              </a:lnSpc>
            </a:pPr>
          </a:p>
          <a:p>
            <a:pPr algn="l" marL="467918" indent="-233959" lvl="1">
              <a:lnSpc>
                <a:spcPts val="3034"/>
              </a:lnSpc>
              <a:buFont typeface="Arial"/>
              <a:buChar char="•"/>
            </a:pPr>
            <a:r>
              <a:rPr lang="en-US" b="true" sz="21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city of origin</a:t>
            </a:r>
          </a:p>
          <a:p>
            <a:pPr algn="l" marL="467918" indent="-233959" lvl="1">
              <a:lnSpc>
                <a:spcPts val="3034"/>
              </a:lnSpc>
              <a:buFont typeface="Arial"/>
              <a:buChar char="•"/>
            </a:pPr>
            <a:r>
              <a:rPr lang="en-US" b="true" sz="21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fare amount</a:t>
            </a:r>
          </a:p>
          <a:p>
            <a:pPr algn="l" marL="467918" indent="-233959" lvl="1">
              <a:lnSpc>
                <a:spcPts val="3034"/>
              </a:lnSpc>
              <a:buFont typeface="Arial"/>
              <a:buChar char="•"/>
            </a:pPr>
            <a:r>
              <a:rPr lang="en-US" b="true" sz="21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payment method </a:t>
            </a:r>
          </a:p>
          <a:p>
            <a:pPr algn="l" marL="467918" indent="-233959" lvl="1">
              <a:lnSpc>
                <a:spcPts val="3034"/>
              </a:lnSpc>
              <a:buFont typeface="Arial"/>
              <a:buChar char="•"/>
            </a:pPr>
            <a:r>
              <a:rPr lang="en-US" b="true" sz="21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travelled distance</a:t>
            </a:r>
          </a:p>
          <a:p>
            <a:pPr algn="l" marL="467918" indent="-233959" lvl="1">
              <a:lnSpc>
                <a:spcPts val="3034"/>
              </a:lnSpc>
              <a:buFont typeface="Arial"/>
              <a:buChar char="•"/>
            </a:pPr>
            <a:r>
              <a:rPr lang="en-US" b="true" sz="21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pickup and drop localization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9886" y="6670418"/>
            <a:ext cx="492049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Said data is sufficient to perform  different market analysis operations.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5" y="-244324"/>
            <a:ext cx="18904067" cy="6283384"/>
            <a:chOff x="0" y="0"/>
            <a:chExt cx="4978849" cy="16548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8849" cy="1654883"/>
            </a:xfrm>
            <a:custGeom>
              <a:avLst/>
              <a:gdLst/>
              <a:ahLst/>
              <a:cxnLst/>
              <a:rect r="r" b="b" t="t" l="l"/>
              <a:pathLst>
                <a:path h="1654883" w="4978849">
                  <a:moveTo>
                    <a:pt x="0" y="0"/>
                  </a:moveTo>
                  <a:lnTo>
                    <a:pt x="4978849" y="0"/>
                  </a:lnTo>
                  <a:lnTo>
                    <a:pt x="4978849" y="1654883"/>
                  </a:lnTo>
                  <a:lnTo>
                    <a:pt x="0" y="1654883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978849" cy="168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53362"/>
            <a:ext cx="10041924" cy="5785699"/>
          </a:xfrm>
          <a:custGeom>
            <a:avLst/>
            <a:gdLst/>
            <a:ahLst/>
            <a:cxnLst/>
            <a:rect r="r" b="b" t="t" l="l"/>
            <a:pathLst>
              <a:path h="5785699" w="10041924">
                <a:moveTo>
                  <a:pt x="0" y="0"/>
                </a:moveTo>
                <a:lnTo>
                  <a:pt x="10041924" y="0"/>
                </a:lnTo>
                <a:lnTo>
                  <a:pt x="10041924" y="5785698"/>
                </a:lnTo>
                <a:lnTo>
                  <a:pt x="0" y="578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2" r="0" b="-44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53459" y="636158"/>
            <a:ext cx="8015890" cy="77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9"/>
              </a:lnSpc>
            </a:pPr>
            <a:r>
              <a:rPr lang="en-US" sz="5978" spc="-23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Time Series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4655" y="1718364"/>
            <a:ext cx="7042728" cy="125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3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work allows tracking demand for the service and customer behhaviour in the context of a chosen time period 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8280" y="3968888"/>
            <a:ext cx="3243930" cy="7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45"/>
              </a:lnSpc>
              <a:spcBef>
                <a:spcPct val="0"/>
              </a:spcBef>
            </a:pPr>
            <a:r>
              <a:rPr lang="en-US" b="true" sz="146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</a:t>
            </a:r>
            <a:r>
              <a:rPr lang="en-US" b="true" sz="146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rips are segmented into distinct operational outcomes: Completed, Cancelled, and No-show.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0063" y="6362598"/>
            <a:ext cx="4568161" cy="57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1"/>
              </a:lnSpc>
            </a:pPr>
            <a:r>
              <a:rPr lang="en-US" sz="2331" spc="-93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Temp</a:t>
            </a:r>
            <a:r>
              <a:rPr lang="en-US" sz="2331" spc="-93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oral Overview - January</a:t>
            </a:r>
          </a:p>
          <a:p>
            <a:pPr algn="l">
              <a:lnSpc>
                <a:spcPts val="219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25431" y="3502735"/>
            <a:ext cx="3306778" cy="29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1"/>
              </a:lnSpc>
            </a:pPr>
            <a:r>
              <a:rPr lang="en-US" sz="2331" spc="-93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Status Classificati</a:t>
            </a:r>
            <a:r>
              <a:rPr lang="en-US" sz="2331" spc="-93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304" y="6793360"/>
            <a:ext cx="4421462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shown figure allows for tracking the number of Uber trips in relation to two metrics: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day of the month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trip status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8894" y="6328406"/>
            <a:ext cx="6133872" cy="39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b="true" sz="23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Practical implications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1840" y="6764785"/>
            <a:ext cx="7388358" cy="284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5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visualization provides valuable insight into</a:t>
            </a:r>
          </a:p>
          <a:p>
            <a:pPr algn="l">
              <a:lnSpc>
                <a:spcPts val="3617"/>
              </a:lnSpc>
            </a:pPr>
            <a:r>
              <a:rPr lang="en-US" sz="25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customer behaviour  varies during the month. It tracks how the numer of trips of any given status varies in correspondence to holidays etc. </a:t>
            </a:r>
          </a:p>
          <a:p>
            <a:pPr algn="ctr">
              <a:lnSpc>
                <a:spcPts val="459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4" y="0"/>
            <a:ext cx="18490624" cy="1460766"/>
            <a:chOff x="0" y="0"/>
            <a:chExt cx="4869958" cy="384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9959" cy="384728"/>
            </a:xfrm>
            <a:custGeom>
              <a:avLst/>
              <a:gdLst/>
              <a:ahLst/>
              <a:cxnLst/>
              <a:rect r="r" b="b" t="t" l="l"/>
              <a:pathLst>
                <a:path h="384728" w="4869959">
                  <a:moveTo>
                    <a:pt x="0" y="0"/>
                  </a:moveTo>
                  <a:lnTo>
                    <a:pt x="4869959" y="0"/>
                  </a:lnTo>
                  <a:lnTo>
                    <a:pt x="4869959" y="384728"/>
                  </a:lnTo>
                  <a:lnTo>
                    <a:pt x="0" y="384728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69958" cy="413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8318" y="2367517"/>
            <a:ext cx="11104266" cy="6384953"/>
          </a:xfrm>
          <a:custGeom>
            <a:avLst/>
            <a:gdLst/>
            <a:ahLst/>
            <a:cxnLst/>
            <a:rect r="r" b="b" t="t" l="l"/>
            <a:pathLst>
              <a:path h="6384953" w="11104266">
                <a:moveTo>
                  <a:pt x="0" y="0"/>
                </a:moveTo>
                <a:lnTo>
                  <a:pt x="11104266" y="0"/>
                </a:lnTo>
                <a:lnTo>
                  <a:pt x="11104266" y="6384953"/>
                </a:lnTo>
                <a:lnTo>
                  <a:pt x="0" y="638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480" y="320559"/>
            <a:ext cx="15165257" cy="101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1"/>
              </a:lnSpc>
            </a:pPr>
            <a:r>
              <a:rPr lang="en-US" sz="8055" spc="-32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Fare vs. Distance Correlation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52584" y="2319892"/>
            <a:ext cx="6686215" cy="568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18" indent="-269509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</a:t>
            </a:r>
            <a:r>
              <a:rPr lang="en-US" b="true" sz="2496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analyse the cost of a fare based on its length, with regard to the city of origin. </a:t>
            </a:r>
          </a:p>
          <a:p>
            <a:pPr algn="l" marL="539018" indent="-269509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visualization allows for the analysis of multiple cities at once, which lets us determine the local as well as global statistics of Uber transportation prices in the US. </a:t>
            </a:r>
          </a:p>
          <a:p>
            <a:pPr algn="l" marL="539018" indent="-269509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are also able to examine customer behaviour, analysing the preferred payment methods in relation to the city of origin and trip distance.</a:t>
            </a:r>
          </a:p>
          <a:p>
            <a:pPr algn="l">
              <a:lnSpc>
                <a:spcPts val="349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6637" y="0"/>
            <a:ext cx="19467960" cy="2119709"/>
            <a:chOff x="0" y="0"/>
            <a:chExt cx="4960421" cy="54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21" cy="540100"/>
            </a:xfrm>
            <a:custGeom>
              <a:avLst/>
              <a:gdLst/>
              <a:ahLst/>
              <a:cxnLst/>
              <a:rect r="r" b="b" t="t" l="l"/>
              <a:pathLst>
                <a:path h="540100" w="4960421">
                  <a:moveTo>
                    <a:pt x="5567" y="0"/>
                  </a:moveTo>
                  <a:lnTo>
                    <a:pt x="4954854" y="0"/>
                  </a:lnTo>
                  <a:cubicBezTo>
                    <a:pt x="4956330" y="0"/>
                    <a:pt x="4957747" y="587"/>
                    <a:pt x="4958791" y="1631"/>
                  </a:cubicBezTo>
                  <a:cubicBezTo>
                    <a:pt x="4959835" y="2675"/>
                    <a:pt x="4960421" y="4091"/>
                    <a:pt x="4960421" y="5567"/>
                  </a:cubicBezTo>
                  <a:lnTo>
                    <a:pt x="4960421" y="534533"/>
                  </a:lnTo>
                  <a:cubicBezTo>
                    <a:pt x="4960421" y="536009"/>
                    <a:pt x="4959835" y="537425"/>
                    <a:pt x="4958791" y="538470"/>
                  </a:cubicBezTo>
                  <a:cubicBezTo>
                    <a:pt x="4957747" y="539514"/>
                    <a:pt x="4956330" y="540100"/>
                    <a:pt x="4954854" y="540100"/>
                  </a:cubicBezTo>
                  <a:lnTo>
                    <a:pt x="5567" y="540100"/>
                  </a:lnTo>
                  <a:cubicBezTo>
                    <a:pt x="4091" y="540100"/>
                    <a:pt x="2675" y="539514"/>
                    <a:pt x="1631" y="538470"/>
                  </a:cubicBezTo>
                  <a:cubicBezTo>
                    <a:pt x="587" y="537425"/>
                    <a:pt x="0" y="536009"/>
                    <a:pt x="0" y="534533"/>
                  </a:cubicBezTo>
                  <a:lnTo>
                    <a:pt x="0" y="5567"/>
                  </a:lnTo>
                  <a:cubicBezTo>
                    <a:pt x="0" y="4091"/>
                    <a:pt x="587" y="2675"/>
                    <a:pt x="1631" y="1631"/>
                  </a:cubicBezTo>
                  <a:cubicBezTo>
                    <a:pt x="2675" y="587"/>
                    <a:pt x="4091" y="0"/>
                    <a:pt x="5567" y="0"/>
                  </a:cubicBez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960421" cy="568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0" y="1278065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286688"/>
            <a:ext cx="10105316" cy="89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Interesting statistics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6637" y="0"/>
            <a:ext cx="19467960" cy="2119709"/>
            <a:chOff x="0" y="0"/>
            <a:chExt cx="4960421" cy="54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21" cy="540100"/>
            </a:xfrm>
            <a:custGeom>
              <a:avLst/>
              <a:gdLst/>
              <a:ahLst/>
              <a:cxnLst/>
              <a:rect r="r" b="b" t="t" l="l"/>
              <a:pathLst>
                <a:path h="540100" w="4960421">
                  <a:moveTo>
                    <a:pt x="5567" y="0"/>
                  </a:moveTo>
                  <a:lnTo>
                    <a:pt x="4954854" y="0"/>
                  </a:lnTo>
                  <a:cubicBezTo>
                    <a:pt x="4956330" y="0"/>
                    <a:pt x="4957747" y="587"/>
                    <a:pt x="4958791" y="1631"/>
                  </a:cubicBezTo>
                  <a:cubicBezTo>
                    <a:pt x="4959835" y="2675"/>
                    <a:pt x="4960421" y="4091"/>
                    <a:pt x="4960421" y="5567"/>
                  </a:cubicBezTo>
                  <a:lnTo>
                    <a:pt x="4960421" y="534533"/>
                  </a:lnTo>
                  <a:cubicBezTo>
                    <a:pt x="4960421" y="536009"/>
                    <a:pt x="4959835" y="537425"/>
                    <a:pt x="4958791" y="538470"/>
                  </a:cubicBezTo>
                  <a:cubicBezTo>
                    <a:pt x="4957747" y="539514"/>
                    <a:pt x="4956330" y="540100"/>
                    <a:pt x="4954854" y="540100"/>
                  </a:cubicBezTo>
                  <a:lnTo>
                    <a:pt x="5567" y="540100"/>
                  </a:lnTo>
                  <a:cubicBezTo>
                    <a:pt x="4091" y="540100"/>
                    <a:pt x="2675" y="539514"/>
                    <a:pt x="1631" y="538470"/>
                  </a:cubicBezTo>
                  <a:cubicBezTo>
                    <a:pt x="587" y="537425"/>
                    <a:pt x="0" y="536009"/>
                    <a:pt x="0" y="534533"/>
                  </a:cubicBezTo>
                  <a:lnTo>
                    <a:pt x="0" y="5567"/>
                  </a:lnTo>
                  <a:cubicBezTo>
                    <a:pt x="0" y="4091"/>
                    <a:pt x="587" y="2675"/>
                    <a:pt x="1631" y="1631"/>
                  </a:cubicBezTo>
                  <a:cubicBezTo>
                    <a:pt x="2675" y="587"/>
                    <a:pt x="4091" y="0"/>
                    <a:pt x="5567" y="0"/>
                  </a:cubicBez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960421" cy="568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0" y="1406947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286659"/>
            <a:ext cx="9544205" cy="89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Interesting statistics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29173" y="0"/>
            <a:ext cx="13758827" cy="10287000"/>
            <a:chOff x="0" y="0"/>
            <a:chExt cx="362372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237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623724">
                  <a:moveTo>
                    <a:pt x="0" y="0"/>
                  </a:moveTo>
                  <a:lnTo>
                    <a:pt x="3623724" y="0"/>
                  </a:lnTo>
                  <a:lnTo>
                    <a:pt x="36237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623724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4529173" cy="10287000"/>
            <a:chOff x="0" y="0"/>
            <a:chExt cx="701687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1687" cy="1593725"/>
            </a:xfrm>
            <a:custGeom>
              <a:avLst/>
              <a:gdLst/>
              <a:ahLst/>
              <a:cxnLst/>
              <a:rect r="r" b="b" t="t" l="l"/>
              <a:pathLst>
                <a:path h="1593725" w="701687">
                  <a:moveTo>
                    <a:pt x="0" y="0"/>
                  </a:moveTo>
                  <a:lnTo>
                    <a:pt x="701687" y="0"/>
                  </a:lnTo>
                  <a:lnTo>
                    <a:pt x="70168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239" t="0" r="-2239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87352" y="606680"/>
            <a:ext cx="6177183" cy="5845159"/>
          </a:xfrm>
          <a:custGeom>
            <a:avLst/>
            <a:gdLst/>
            <a:ahLst/>
            <a:cxnLst/>
            <a:rect r="r" b="b" t="t" l="l"/>
            <a:pathLst>
              <a:path h="5845159" w="6177183">
                <a:moveTo>
                  <a:pt x="0" y="0"/>
                </a:moveTo>
                <a:lnTo>
                  <a:pt x="6177183" y="0"/>
                </a:lnTo>
                <a:lnTo>
                  <a:pt x="6177183" y="5845159"/>
                </a:lnTo>
                <a:lnTo>
                  <a:pt x="0" y="5845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40284" y="7512320"/>
            <a:ext cx="10071320" cy="18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1"/>
              </a:lnSpc>
            </a:pPr>
            <a:r>
              <a:rPr lang="en-US" sz="14650" spc="-586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Thank You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DAHML8hEits</dc:identifier>
  <dcterms:modified xsi:type="dcterms:W3CDTF">2011-08-01T06:04:30Z</dcterms:modified>
  <cp:revision>1</cp:revision>
  <dc:title>Projekt Advance Databases</dc:title>
</cp:coreProperties>
</file>